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54864" cy="6858000"/>
          </a:xfrm>
          <a:prstGeom prst="rect">
            <a:avLst/>
          </a:prstGeom>
          <a:solidFill>
            <a:srgbClr val="1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Arial"/>
              </a:rPr>
              <a:t>CS 6365 ENTERPRISE COMPUTING  ·  SUMMER 2026  ·  GROUP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966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B0B0B"/>
                </a:solidFill>
                <a:latin typeface="Arial"/>
              </a:rPr>
              <a:t>NORP Food Assistance</a:t>
            </a:r>
          </a:p>
          <a:p>
            <a:pPr algn="l"/>
            <a:r>
              <a:rPr sz="4200" b="1">
                <a:solidFill>
                  <a:srgbClr val="0B0B0B"/>
                </a:solidFill>
                <a:latin typeface="Arial"/>
              </a:rPr>
              <a:t>Need-Capacity Gap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2514E"/>
                </a:solidFill>
                <a:latin typeface="Arial"/>
              </a:rPr>
              <a:t>Where does food-related community need outpace the nonprofit capacity to address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4224528"/>
            <a:ext cx="91440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Arial"/>
              </a:rPr>
              <a:t>Ishaan Bhardwaj  ·  Gowtam Kommi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074920"/>
            <a:ext cx="306324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52943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54406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3.42M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705856"/>
            <a:ext cx="2606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nonprofits analyzed (full table)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5074920"/>
            <a:ext cx="306324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52943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4406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3,066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705856"/>
            <a:ext cx="2606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US counties in the scored panel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6096" y="5074920"/>
            <a:ext cx="306324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52943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54406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17 /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5705856"/>
            <a:ext cx="2606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committed verification checks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Final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9895" y="645566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An exploration layer, not another query 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82009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—  </a:t>
            </a:r>
            <a:r>
              <a:rPr sz="1600">
                <a:solidFill>
                  <a:srgbClr val="52514E"/>
                </a:solidFill>
                <a:latin typeface="Arial"/>
              </a:rPr>
              <a:t>Past NORP semesters built NL2SQL chatbots and drifted into SQL-generation benchmarking rather than surfacing insight.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—  </a:t>
            </a:r>
            <a:r>
              <a:rPr sz="1600">
                <a:solidFill>
                  <a:srgbClr val="52514E"/>
                </a:solidFill>
                <a:latin typeface="Arial"/>
              </a:rPr>
              <a:t>This project is an agentic layer that cleans real data, gates its own quality, and computes correlations it can defend.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—  </a:t>
            </a:r>
            <a:r>
              <a:rPr sz="1600">
                <a:solidFill>
                  <a:srgbClr val="52514E"/>
                </a:solidFill>
                <a:latin typeface="Arial"/>
              </a:rPr>
              <a:t>One concrete question, answered across 3,066 counties on 5-digit FIPS.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10820095" cy="1234440"/>
          </a:xfrm>
          <a:prstGeom prst="roundRect">
            <a:avLst>
              <a:gd name="adj" fmla="val 5000"/>
            </a:avLst>
          </a:prstGeom>
          <a:solidFill>
            <a:srgbClr val="EDF3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709160"/>
            <a:ext cx="82296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08857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B0B0B"/>
                </a:solidFill>
                <a:latin typeface="Arial"/>
              </a:rPr>
              <a:t>Python computes every statistic. The language model only proposes hypotheses and writes framing, so no reported number depends on a model being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THE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Six raw tables joined at the county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3.42M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nonprofits (EIN, county, category), full source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3874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3874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131,587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IRS 990/990EZ/990PF filings (revenue, net assets)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72,742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disadvantaged-community census tracts of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1188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Arial"/>
              </a:rPr>
              <a:t>Three hazards shaped the whole design: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Capacity names counties in text while need uses FIPS codes, and names lie.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Only about four percent of nonprofits have a matched filing, so financials are treated as missing, never as zero.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Until this checkpoint we held only a truncated extract of the nonprofit table (that becomes the story of the final run).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pipeline decides for itself at three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3423818" cy="251460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342381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2140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78D6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Profiler &amp;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28751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2514E"/>
                </a:solidFill>
                <a:latin typeface="Arial"/>
              </a:rPr>
              <a:t>Classifies every table and join, then issues proceed / warning / stop on its own, no manual intervention.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1920240"/>
            <a:ext cx="3423818" cy="251460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3938" y="1920240"/>
            <a:ext cx="342381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8258" y="212140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78D6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278892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LLM candidate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258" y="3200400"/>
            <a:ext cx="28751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2514E"/>
                </a:solidFill>
                <a:latin typeface="Arial"/>
              </a:rPr>
              <a:t>Reads only the schema and proposes pairs; Python computes the exhaustive 28-pair grid regardless.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2076" y="1920240"/>
            <a:ext cx="3423818" cy="251460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2076" y="1920240"/>
            <a:ext cx="342381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396" y="212140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A78D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78892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Arial"/>
              </a:rPr>
              <a:t>Statistical critic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3200400"/>
            <a:ext cx="287517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2514E"/>
                </a:solidFill>
                <a:latin typeface="Arial"/>
              </a:rPr>
              <a:t>Re-tests every proposal with FDR control and permutation nulls; a matching sign is not support.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Arial"/>
              </a:rPr>
              <a:t>Flow:  </a:t>
            </a:r>
            <a:r>
              <a:rPr sz="1250" b="0">
                <a:solidFill>
                  <a:srgbClr val="52514E"/>
                </a:solidFill>
                <a:latin typeface="Arial"/>
              </a:rPr>
              <a:t>load → profile → gate → capacity + need tables → scored panel → correlation agent → critic → fixed effects → maps → findings, with a committed verifier re-deriving every number (17 checks, all pass).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AUTONOMY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gate acts on its own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proceed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the gate's own verdict (with warning) on the full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3874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3874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93.2%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county-name match rate on 3.42M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093976"/>
            <a:ext cx="457200" cy="5029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231,927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rows auto-dropped, 99.3% Florida + Connecticut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Florida and Connecticut cannot be mapped in the committed FIPS lookup, so they auto-drop, logged with per-state counts, never hand-patched.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Checkpoint 1 feedback told us to let the profiler do its job; the manual FL/CT patch we had planned was deleted in response.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That rule held all the way to the final run: everything dropped is logged with a reason, everything kept arrived through a general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An explainable gap score, hardened against outliers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—  </a:t>
            </a:r>
            <a:r>
              <a:rPr sz="1450">
                <a:solidFill>
                  <a:srgbClr val="52514E"/>
                </a:solidFill>
                <a:latin typeface="Arial"/>
              </a:rPr>
              <a:t>Gap = mean z-score of need indicators minus mean z-score of capacity; positive means need outpaces capacity.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—  </a:t>
            </a:r>
            <a:r>
              <a:rPr sz="1450">
                <a:solidFill>
                  <a:srgbClr val="52514E"/>
                </a:solidFill>
                <a:latin typeface="Arial"/>
              </a:rPr>
              <a:t>Capacity metrics pass through a signed-log transform so one large nonprofit cannot dominate a county; missing filings stay missing.</a:t>
            </a:r>
          </a:p>
        </p:txBody>
      </p:sp>
      <p:pic>
        <p:nvPicPr>
          <p:cNvPr id="10" name="Picture 9" descr="ga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502" y="3200400"/>
            <a:ext cx="413269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87959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98781"/>
                </a:solidFill>
                <a:latin typeface="Arial"/>
              </a:rPr>
              <a:t>Nearly symmetric distribution, so the tail counties are genuine outliers, not artifacts of skew.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A triage list of counties, and it is face-valid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07 / 14</a:t>
            </a:r>
          </a:p>
        </p:txBody>
      </p:sp>
      <p:pic>
        <p:nvPicPr>
          <p:cNvPr id="9" name="Picture 8" descr="top_gap_coun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682" y="1792224"/>
            <a:ext cx="4456331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157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98781"/>
                </a:solidFill>
                <a:latin typeface="Arial"/>
              </a:rPr>
              <a:t>Texas border, Arkansas/Mississippi Delta, Appalachian Kentucky, the Black Belt: exactly where a domain expert would expect the need-capacity gap to be widest.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GEOGRAPHY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same result on the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08 / 14</a:t>
            </a:r>
          </a:p>
        </p:txBody>
      </p:sp>
      <p:pic>
        <p:nvPicPr>
          <p:cNvPr id="9" name="Picture 8" descr="gap_score_choropleth_cou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225" y="1792224"/>
            <a:ext cx="5915244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843015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98781"/>
                </a:solidFill>
                <a:latin typeface="Arial"/>
              </a:rPr>
              <a:t>Red = need outpaces capacity; blue = the reverse; grey = Florida and Connecticut, absent by an honest rule. A true county-polygon map in matplotlib, no GIS dependencies.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SEPARATION OF CONCERNS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model proposes; Python computes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82009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—  </a:t>
            </a:r>
            <a:r>
              <a:rPr sz="1450">
                <a:solidFill>
                  <a:srgbClr val="52514E"/>
                </a:solidFill>
                <a:latin typeface="Arial"/>
              </a:rPr>
              <a:t>Seven hypotheses proposed from the schema alone; no raw rows leave the machine.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—  </a:t>
            </a:r>
            <a:r>
              <a:rPr sz="1450">
                <a:solidFill>
                  <a:srgbClr val="52514E"/>
                </a:solidFill>
                <a:latin typeface="Arial"/>
              </a:rPr>
              <a:t>Python tests all 28 need-by-capacity pairs, so the proposals sit inside a complete grid and nothing is cherry-picked.</a:t>
            </a:r>
          </a:p>
        </p:txBody>
      </p:sp>
      <p:pic>
        <p:nvPicPr>
          <p:cNvPr id="10" name="Picture 9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515" y="2926080"/>
            <a:ext cx="4096665" cy="2788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88151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98781"/>
                </a:solidFill>
                <a:latin typeface="Arial"/>
              </a:rPr>
              <a:t>The full 7x4 Spearman grid the critic operates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A deterministic critic grades every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supported: FDR, permutation, and effect floor all cleared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3874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3874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weak: right sign, but fail a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093976"/>
            <a:ext cx="457200" cy="5029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unsupported: sign wrong or not significant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Three layers: false-discovery control across all 28 tests, a state-stratified permutation null (2,000 within-state shuffles), and a pre-committed effect-size floor.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Poverty versus nonprofit density has q = 7.7e-36 yet permutation p = 1.0: statistically significant and still a pure between-state artifact.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Treating that null as a finding, not a failure, is the most defensible thing the pipeline does.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NEW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wealth-capacity link survives state fixed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+0.132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within-state slope per $10k of median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3874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3874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4.2e-09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cluster-robust p-value at the state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2,939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counties across 49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State fixed effects absorb every additive state-level shift (cost of living, filing coverage, tax geography); the slope is estimated from within-state variation only.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The pooled slope (+0.194) barely attenuates under absorption, so the relationship is within states, not composition.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On the raw dollar scale the same regression finds nothing (p = 0.61), which is exactly why the signed-log transform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ABOVE AND BEYOND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Ishaan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We audited the AI benchmark like we audit ourselves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272887" cy="8229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03120"/>
            <a:ext cx="47242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Arial"/>
              </a:rPr>
              <a:t>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07792"/>
            <a:ext cx="47242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2514E"/>
                </a:solidFill>
                <a:latin typeface="Arial"/>
              </a:rPr>
              <a:t>recovered by the benchmark's Virginia fix on the real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874519"/>
            <a:ext cx="5272887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5615" y="2103120"/>
            <a:ext cx="47242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0B0B"/>
                </a:solidFill>
                <a:latin typeface="Arial"/>
              </a:rPr>
              <a:t>34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2907792"/>
            <a:ext cx="47242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2514E"/>
                </a:solidFill>
                <a:latin typeface="Arial"/>
              </a:rPr>
              <a:t>VA independent cities plus Dona Ana NM recovered by our resolver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2A78D6"/>
                </a:solidFill>
                <a:latin typeface="Arial"/>
              </a:rPr>
              <a:t>—  </a:t>
            </a:r>
            <a:r>
              <a:rPr sz="1400">
                <a:solidFill>
                  <a:srgbClr val="52514E"/>
                </a:solidFill>
                <a:latin typeface="Arial"/>
              </a:rPr>
              <a:t>Its exact-first pass only helps names that exist verbatim in the lookup, and its tests only use those names, so the tests pass while the fix recovers nothing.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2A78D6"/>
                </a:solidFill>
                <a:latin typeface="Arial"/>
              </a:rPr>
              <a:t>—  </a:t>
            </a:r>
            <a:r>
              <a:rPr sz="1400">
                <a:solidFill>
                  <a:srgbClr val="52514E"/>
                </a:solidFill>
                <a:latin typeface="Arial"/>
              </a:rPr>
              <a:t>We keep its good ideas with credit (exact-first matching so Fairfax City never folds into Fairfax County) and add the missing general rules: a city-suffix fallback plus an encoding repair for the lookup's own corrupted bytes.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2A78D6"/>
                </a:solidFill>
                <a:latin typeface="Arial"/>
              </a:rPr>
              <a:t>—  </a:t>
            </a:r>
            <a:r>
              <a:rPr sz="1400">
                <a:solidFill>
                  <a:srgbClr val="52514E"/>
                </a:solidFill>
                <a:latin typeface="Arial"/>
              </a:rPr>
              <a:t>Panel: 3,027 to 3,066 counties, every recovery machine-verified.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CLOSING THE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Gowtam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The data gap is closed, and the bias is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470916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13969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4251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30.7%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51176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of nonprofit rows were in the old 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470916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" y="3511296"/>
            <a:ext cx="457200" cy="5029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57600"/>
            <a:ext cx="4251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26.2%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922776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of food nonprofits: the sector was under-sampled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4709160" cy="1234440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488289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029200"/>
            <a:ext cx="4251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0.73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294375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gap rank correlation vs CP3: geography held, sectors shifted</a:t>
            </a:r>
          </a:p>
        </p:txBody>
      </p:sp>
      <p:pic>
        <p:nvPicPr>
          <p:cNvPr id="21" name="Picture 20" descr="trunca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07" y="1828800"/>
            <a:ext cx="274339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Arial"/>
              </a:rPr>
              <a:t>IN CLOSING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023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898781"/>
                </a:solidFill>
                <a:latin typeface="Arial"/>
              </a:rPr>
              <a:t>speaker  </a:t>
            </a:r>
            <a:r>
              <a:rPr sz="1000">
                <a:solidFill>
                  <a:srgbClr val="52514E"/>
                </a:solidFill>
                <a:latin typeface="Arial"/>
              </a:rPr>
              <a:t>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A pipeline that shows its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7772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98781"/>
                </a:solidFill>
                <a:latin typeface="Arial"/>
              </a:rPr>
              <a:t>NORP Need-Capacity Gap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9895" y="6437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898781"/>
                </a:solidFill>
                <a:latin typeface="Arial"/>
              </a:rPr>
              <a:t>14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committed verification checks, all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3874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3874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offline tests, no API key to reproduce anything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874519"/>
            <a:ext cx="3436010" cy="1481328"/>
          </a:xfrm>
          <a:prstGeom prst="roundRect">
            <a:avLst>
              <a:gd name="adj" fmla="val 5000"/>
            </a:avLst>
          </a:prstGeom>
          <a:solidFill>
            <a:srgbClr val="F5F4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093976"/>
            <a:ext cx="45720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2240279"/>
            <a:ext cx="297881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Aria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752344"/>
            <a:ext cx="297881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52514E"/>
                </a:solidFill>
                <a:latin typeface="Arial"/>
              </a:rPr>
              <a:t>of headline numbers re-derivable from the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10820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Honest accounting is the product: FL/CT absence, sparse filings, unverifiable upstream labels, all enumerated, never hidden.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—  </a:t>
            </a:r>
            <a:r>
              <a:rPr sz="1500">
                <a:solidFill>
                  <a:srgbClr val="52514E"/>
                </a:solidFill>
                <a:latin typeface="Arial"/>
              </a:rPr>
              <a:t>Next: an authoritative FL/CT county mapping, a second filing year for a temporal panel, and publishing the triage list with its caveats.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4068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EDF3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8200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5AA6"/>
                </a:solidFill>
                <a:latin typeface="Arial"/>
              </a:rPr>
              <a:t>github.com/ishaanbhardwaj2003/NORP-Food-Assistance-Need-Capacity-Gap-Explorer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