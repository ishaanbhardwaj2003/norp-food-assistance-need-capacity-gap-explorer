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5616"/>
  </p:normalViewPr>
  <p:slideViewPr>
    <p:cSldViewPr snapToGrid="0" snapToObjects="1">
      <p:cViewPr varScale="1">
        <p:scale>
          <a:sx n="121" d="100"/>
          <a:sy n="121" d="100"/>
        </p:scale>
        <p:origin x="74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F10578-759C-5945-ACA3-D4FDE0DEFB2D}" type="datetimeFigureOut">
              <a:rPr lang="en-US" smtClean="0"/>
              <a:t>7/27/26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F0FBF3-A5DA-B74C-91D9-61F5C7B12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4626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F0FBF3-A5DA-B74C-91D9-61F5C7B120A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00832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92608" y="0"/>
            <a:ext cx="54864" cy="6858000"/>
          </a:xfrm>
          <a:prstGeom prst="rect">
            <a:avLst/>
          </a:prstGeom>
          <a:solidFill>
            <a:srgbClr val="1E5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dirty="0">
                <a:solidFill>
                  <a:srgbClr val="2A78D6"/>
                </a:solidFill>
                <a:latin typeface="Arial"/>
              </a:rPr>
              <a:t>CS 6365 ENTERPRISE COMPUTING  ·  SUMMER 2026  ·  GROUP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99669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dirty="0">
                <a:solidFill>
                  <a:srgbClr val="0B0B0B"/>
                </a:solidFill>
                <a:latin typeface="Arial"/>
              </a:rPr>
              <a:t>NORP Food Assistance</a:t>
            </a:r>
          </a:p>
          <a:p>
            <a:pPr algn="l"/>
            <a:r>
              <a:rPr sz="4200" b="1" dirty="0">
                <a:solidFill>
                  <a:srgbClr val="0B0B0B"/>
                </a:solidFill>
                <a:latin typeface="Arial"/>
              </a:rPr>
              <a:t>Need-Capacity Gap Explorer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429000"/>
            <a:ext cx="9692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52514E"/>
                </a:solidFill>
                <a:latin typeface="Arial"/>
              </a:rPr>
              <a:t>Where does food-related community need outpace the nonprofit capacity to address it?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4224528"/>
            <a:ext cx="91440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438912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Arial"/>
              </a:rPr>
              <a:t>Ishaan Bhardwaj  ·  Gowtam Kommi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5074920"/>
            <a:ext cx="3063240" cy="1234440"/>
          </a:xfrm>
          <a:prstGeom prst="roundRect">
            <a:avLst>
              <a:gd name="adj" fmla="val 5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261872" y="5294376"/>
            <a:ext cx="45720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61872" y="536752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dirty="0">
                <a:solidFill>
                  <a:srgbClr val="0B0B0B"/>
                </a:solidFill>
                <a:latin typeface="Arial"/>
              </a:rPr>
              <a:t>3.42M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5779008"/>
            <a:ext cx="260604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dirty="0">
                <a:solidFill>
                  <a:srgbClr val="52514E"/>
                </a:solidFill>
                <a:latin typeface="Arial"/>
              </a:rPr>
              <a:t>nonprofits analyzed (full table)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5074920"/>
            <a:ext cx="3063240" cy="1234440"/>
          </a:xfrm>
          <a:prstGeom prst="roundRect">
            <a:avLst>
              <a:gd name="adj" fmla="val 5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0" y="5294376"/>
            <a:ext cx="45720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56762" y="5336417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Arial"/>
              </a:rPr>
              <a:t>3,066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5905" y="5794563"/>
            <a:ext cx="260604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dirty="0">
                <a:solidFill>
                  <a:srgbClr val="52514E"/>
                </a:solidFill>
                <a:latin typeface="Arial"/>
              </a:rPr>
              <a:t>US counties in the scored panel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26096" y="5074920"/>
            <a:ext cx="3063240" cy="1234440"/>
          </a:xfrm>
          <a:prstGeom prst="roundRect">
            <a:avLst>
              <a:gd name="adj" fmla="val 5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82127" y="5294376"/>
            <a:ext cx="45720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882127" y="5440680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Arial"/>
              </a:rPr>
              <a:t>17 / 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82127" y="5827014"/>
            <a:ext cx="260604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dirty="0">
                <a:solidFill>
                  <a:srgbClr val="52514E"/>
                </a:solidFill>
                <a:latin typeface="Arial"/>
              </a:rPr>
              <a:t>committed verification checks pass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98781"/>
                </a:solidFill>
                <a:latin typeface="Arial"/>
              </a:rPr>
              <a:t>Final Presentation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19895" y="645566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898781"/>
                </a:solidFill>
                <a:latin typeface="Arial"/>
              </a:rPr>
              <a:t>01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3891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THE PROBLEM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814255" y="402336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>
                <a:solidFill>
                  <a:srgbClr val="898781"/>
                </a:solidFill>
                <a:latin typeface="Arial"/>
              </a:rPr>
              <a:t>speaker  </a:t>
            </a:r>
            <a:r>
              <a:rPr sz="1000">
                <a:solidFill>
                  <a:srgbClr val="52514E"/>
                </a:solidFill>
                <a:latin typeface="Arial"/>
              </a:rPr>
              <a:t>Ishaan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B0B0B"/>
                </a:solidFill>
                <a:latin typeface="Arial"/>
              </a:rPr>
              <a:t>An exploration layer, not another query bot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1056"/>
            <a:ext cx="7772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6364224"/>
            <a:ext cx="10820095" cy="12801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98781"/>
                </a:solidFill>
                <a:latin typeface="Arial"/>
              </a:rPr>
              <a:t>NORP Need-Capacity Gap Explorer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19895" y="643737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898781"/>
                </a:solidFill>
                <a:latin typeface="Arial"/>
              </a:rPr>
              <a:t>02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74519"/>
            <a:ext cx="10820095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Arial"/>
              </a:rPr>
              <a:t>—  </a:t>
            </a:r>
            <a:r>
              <a:rPr sz="1600">
                <a:solidFill>
                  <a:srgbClr val="52514E"/>
                </a:solidFill>
                <a:latin typeface="Arial"/>
              </a:rPr>
              <a:t>Past NORP semesters built NL2SQL chatbots and drifted into SQL-generation benchmarking rather than surfacing insight.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Arial"/>
              </a:rPr>
              <a:t>—  </a:t>
            </a:r>
            <a:r>
              <a:rPr sz="1600">
                <a:solidFill>
                  <a:srgbClr val="52514E"/>
                </a:solidFill>
                <a:latin typeface="Arial"/>
              </a:rPr>
              <a:t>This project is an agentic layer that cleans real data, gates its own quality, and computes correlations it can defend.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Arial"/>
              </a:rPr>
              <a:t>—  </a:t>
            </a:r>
            <a:r>
              <a:rPr sz="1600">
                <a:solidFill>
                  <a:srgbClr val="52514E"/>
                </a:solidFill>
                <a:latin typeface="Arial"/>
              </a:rPr>
              <a:t>One concrete question, answered across 3,066 counties on 5-digit FIPS.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709160"/>
            <a:ext cx="10820095" cy="1234440"/>
          </a:xfrm>
          <a:prstGeom prst="roundRect">
            <a:avLst>
              <a:gd name="adj" fmla="val 5000"/>
            </a:avLst>
          </a:prstGeom>
          <a:solidFill>
            <a:srgbClr val="EDF3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85800" y="4709160"/>
            <a:ext cx="82296" cy="12344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97280" y="4709160"/>
            <a:ext cx="10088575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0B0B0B"/>
                </a:solidFill>
                <a:latin typeface="Arial"/>
              </a:rPr>
              <a:t>Python computes every statistic. The language model only proposes hypotheses and writes framing, so no reported number depends on a model being right.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3891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THE DATA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814255" y="402336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>
                <a:solidFill>
                  <a:srgbClr val="898781"/>
                </a:solidFill>
                <a:latin typeface="Arial"/>
              </a:rPr>
              <a:t>speaker  </a:t>
            </a:r>
            <a:r>
              <a:rPr sz="1000">
                <a:solidFill>
                  <a:srgbClr val="52514E"/>
                </a:solidFill>
                <a:latin typeface="Arial"/>
              </a:rPr>
              <a:t>Gowtam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B0B0B"/>
                </a:solidFill>
                <a:latin typeface="Arial"/>
              </a:rPr>
              <a:t>Six raw tables joined at the county level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1056"/>
            <a:ext cx="7772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6364224"/>
            <a:ext cx="10820095" cy="12801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98781"/>
                </a:solidFill>
                <a:latin typeface="Arial"/>
              </a:rPr>
              <a:t>NORP Need-Capacity Gap Explorer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19895" y="643737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898781"/>
                </a:solidFill>
                <a:latin typeface="Arial"/>
              </a:rPr>
              <a:t>03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74519"/>
            <a:ext cx="3436010" cy="1481328"/>
          </a:xfrm>
          <a:prstGeom prst="roundRect">
            <a:avLst>
              <a:gd name="adj" fmla="val 5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41832" y="2093976"/>
            <a:ext cx="45720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41832" y="2240279"/>
            <a:ext cx="297881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Arial"/>
              </a:rPr>
              <a:t>3.42M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752344"/>
            <a:ext cx="297881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52514E"/>
                </a:solidFill>
                <a:latin typeface="Arial"/>
              </a:rPr>
              <a:t>nonprofits (EIN, county, category), full source table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7842" y="1874519"/>
            <a:ext cx="3436010" cy="1481328"/>
          </a:xfrm>
          <a:prstGeom prst="roundRect">
            <a:avLst>
              <a:gd name="adj" fmla="val 5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633874" y="2093976"/>
            <a:ext cx="45720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33874" y="2240279"/>
            <a:ext cx="297881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Arial"/>
              </a:rPr>
              <a:t>131,587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3874" y="2752344"/>
            <a:ext cx="297881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52514E"/>
                </a:solidFill>
                <a:latin typeface="Arial"/>
              </a:rPr>
              <a:t>IRS 990/990EZ/990PF filings (revenue, net assets)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9884" y="1874519"/>
            <a:ext cx="3436010" cy="1481328"/>
          </a:xfrm>
          <a:prstGeom prst="roundRect">
            <a:avLst>
              <a:gd name="adj" fmla="val 5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325916" y="2093976"/>
            <a:ext cx="45720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5916" y="2240279"/>
            <a:ext cx="297881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Arial"/>
              </a:rPr>
              <a:t>72,742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2752344"/>
            <a:ext cx="297881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52514E"/>
                </a:solidFill>
                <a:latin typeface="Arial"/>
              </a:rPr>
              <a:t>disadvantaged-community census tracts of need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611880"/>
            <a:ext cx="1082009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B0B0B"/>
                </a:solidFill>
                <a:latin typeface="Arial"/>
              </a:rPr>
              <a:t>Three hazards shaped the whole design: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10820095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2A78D6"/>
                </a:solidFill>
                <a:latin typeface="Arial"/>
              </a:rPr>
              <a:t>—  </a:t>
            </a:r>
            <a:r>
              <a:rPr sz="1500">
                <a:solidFill>
                  <a:srgbClr val="52514E"/>
                </a:solidFill>
                <a:latin typeface="Arial"/>
              </a:rPr>
              <a:t>Capacity names counties in text while need uses FIPS codes, and text names are an unreliable key: spellings and suffixes vary and names repeat across states.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2A78D6"/>
                </a:solidFill>
                <a:latin typeface="Arial"/>
              </a:rPr>
              <a:t>—  </a:t>
            </a:r>
            <a:r>
              <a:rPr sz="1500">
                <a:solidFill>
                  <a:srgbClr val="52514E"/>
                </a:solidFill>
                <a:latin typeface="Arial"/>
              </a:rPr>
              <a:t>Only about four percent of nonprofits have a matched filing, so financials are treated as missing, never as zero.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2A78D6"/>
                </a:solidFill>
                <a:latin typeface="Arial"/>
              </a:rPr>
              <a:t>—  </a:t>
            </a:r>
            <a:r>
              <a:rPr sz="1500">
                <a:solidFill>
                  <a:srgbClr val="52514E"/>
                </a:solidFill>
                <a:latin typeface="Arial"/>
              </a:rPr>
              <a:t>Until this checkpoint we held only a truncated extract of the nonprofit table (that becomes the story of the final run).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3891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814255" y="402336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>
                <a:solidFill>
                  <a:srgbClr val="898781"/>
                </a:solidFill>
                <a:latin typeface="Arial"/>
              </a:rPr>
              <a:t>speaker  </a:t>
            </a:r>
            <a:r>
              <a:rPr sz="1000">
                <a:solidFill>
                  <a:srgbClr val="52514E"/>
                </a:solidFill>
                <a:latin typeface="Arial"/>
              </a:rPr>
              <a:t>Ishaan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B0B0B"/>
                </a:solidFill>
                <a:latin typeface="Arial"/>
              </a:rPr>
              <a:t>The pipeline decides for itself at three points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1056"/>
            <a:ext cx="7772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6364224"/>
            <a:ext cx="10820095" cy="12801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98781"/>
                </a:solidFill>
                <a:latin typeface="Arial"/>
              </a:rPr>
              <a:t>NORP Need-Capacity Gap Explorer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19895" y="643737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898781"/>
                </a:solidFill>
                <a:latin typeface="Arial"/>
              </a:rPr>
              <a:t>04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920240"/>
            <a:ext cx="3423818" cy="2514600"/>
          </a:xfrm>
          <a:prstGeom prst="roundRect">
            <a:avLst>
              <a:gd name="adj" fmla="val 5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1920240"/>
            <a:ext cx="3423818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121408"/>
            <a:ext cx="914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2A78D6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88920"/>
            <a:ext cx="287517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0B0B0B"/>
                </a:solidFill>
                <a:latin typeface="Arial"/>
              </a:rPr>
              <a:t>Profiler &amp;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200400"/>
            <a:ext cx="2875178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52514E"/>
                </a:solidFill>
                <a:latin typeface="Arial"/>
              </a:rPr>
              <a:t>Classifies every table and join, then issues proceed / warning / stop on its own, no manual intervention.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3938" y="1920240"/>
            <a:ext cx="3423818" cy="2514600"/>
          </a:xfrm>
          <a:prstGeom prst="roundRect">
            <a:avLst>
              <a:gd name="adj" fmla="val 5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83938" y="1920240"/>
            <a:ext cx="3423818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58258" y="2121408"/>
            <a:ext cx="914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2A78D6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8258" y="2788920"/>
            <a:ext cx="287517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0B0B0B"/>
                </a:solidFill>
                <a:latin typeface="Arial"/>
              </a:rPr>
              <a:t>LLM candidate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58258" y="3200400"/>
            <a:ext cx="2875178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52514E"/>
                </a:solidFill>
                <a:latin typeface="Arial"/>
              </a:rPr>
              <a:t>Reads only the schema and proposes pairs; Python computes the exhaustive 28-pair grid regardless.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2076" y="1920240"/>
            <a:ext cx="3423818" cy="2514600"/>
          </a:xfrm>
          <a:prstGeom prst="roundRect">
            <a:avLst>
              <a:gd name="adj" fmla="val 5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82076" y="1920240"/>
            <a:ext cx="3423818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56396" y="2121408"/>
            <a:ext cx="914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2A78D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6396" y="2788920"/>
            <a:ext cx="287517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0B0B0B"/>
                </a:solidFill>
                <a:latin typeface="Arial"/>
              </a:rPr>
              <a:t>Statistical critic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6396" y="3200400"/>
            <a:ext cx="2875178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52514E"/>
                </a:solidFill>
                <a:latin typeface="Arial"/>
              </a:rPr>
              <a:t>Re-tests every proposal with FDR control and permutation nulls; a matching sign is not support.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800600"/>
            <a:ext cx="10820095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0B0B0B"/>
                </a:solidFill>
                <a:latin typeface="Arial"/>
              </a:rPr>
              <a:t>Flow:  </a:t>
            </a:r>
            <a:r>
              <a:rPr sz="1250" b="0">
                <a:solidFill>
                  <a:srgbClr val="52514E"/>
                </a:solidFill>
                <a:latin typeface="Arial"/>
              </a:rPr>
              <a:t>load → profile → gate → capacity + need tables → scored panel → correlation agent → critic → fixed effects → maps → findings, with a committed verifier re-deriving every number (17 checks, all pass).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3891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AUTONOMY IN ACTION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814255" y="402336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>
                <a:solidFill>
                  <a:srgbClr val="898781"/>
                </a:solidFill>
                <a:latin typeface="Arial"/>
              </a:rPr>
              <a:t>speaker  </a:t>
            </a:r>
            <a:r>
              <a:rPr sz="1000">
                <a:solidFill>
                  <a:srgbClr val="52514E"/>
                </a:solidFill>
                <a:latin typeface="Arial"/>
              </a:rPr>
              <a:t>Gowtam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B0B0B"/>
                </a:solidFill>
                <a:latin typeface="Arial"/>
              </a:rPr>
              <a:t>The gate acts on its own verdict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1056"/>
            <a:ext cx="7772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6364224"/>
            <a:ext cx="10820095" cy="12801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98781"/>
                </a:solidFill>
                <a:latin typeface="Arial"/>
              </a:rPr>
              <a:t>NORP Need-Capacity Gap Explorer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19895" y="643737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898781"/>
                </a:solidFill>
                <a:latin typeface="Arial"/>
              </a:rPr>
              <a:t>05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74519"/>
            <a:ext cx="3436010" cy="1481328"/>
          </a:xfrm>
          <a:prstGeom prst="roundRect">
            <a:avLst>
              <a:gd name="adj" fmla="val 5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41832" y="2093976"/>
            <a:ext cx="45720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41832" y="2240279"/>
            <a:ext cx="297881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Arial"/>
              </a:rPr>
              <a:t>proceed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752344"/>
            <a:ext cx="297881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52514E"/>
                </a:solidFill>
                <a:latin typeface="Arial"/>
              </a:rPr>
              <a:t>the gate's own verdict (with warning) on the full run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7842" y="1874519"/>
            <a:ext cx="3436010" cy="1481328"/>
          </a:xfrm>
          <a:prstGeom prst="roundRect">
            <a:avLst>
              <a:gd name="adj" fmla="val 5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633874" y="2093976"/>
            <a:ext cx="45720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33874" y="2240279"/>
            <a:ext cx="297881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Arial"/>
              </a:rPr>
              <a:t>93.2%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3874" y="2752344"/>
            <a:ext cx="297881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52514E"/>
                </a:solidFill>
                <a:latin typeface="Arial"/>
              </a:rPr>
              <a:t>county-name match rate on 3.42M rows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9884" y="1874519"/>
            <a:ext cx="3436010" cy="1481328"/>
          </a:xfrm>
          <a:prstGeom prst="roundRect">
            <a:avLst>
              <a:gd name="adj" fmla="val 5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325916" y="2093976"/>
            <a:ext cx="457200" cy="50292"/>
          </a:xfrm>
          <a:prstGeom prst="rect">
            <a:avLst/>
          </a:prstGeom>
          <a:solidFill>
            <a:srgbClr val="E34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5916" y="2240279"/>
            <a:ext cx="297881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Arial"/>
              </a:rPr>
              <a:t>231,927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2752344"/>
            <a:ext cx="297881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52514E"/>
                </a:solidFill>
                <a:latin typeface="Arial"/>
              </a:rPr>
              <a:t>rows auto-dropped, 99.3% Florida + Connecticut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657600"/>
            <a:ext cx="10820095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00" b="1">
                <a:solidFill>
                  <a:srgbClr val="2A78D6"/>
                </a:solidFill>
                <a:latin typeface="Arial"/>
              </a:rPr>
              <a:t>—  </a:t>
            </a:r>
            <a:r>
              <a:rPr sz="1500">
                <a:solidFill>
                  <a:srgbClr val="52514E"/>
                </a:solidFill>
                <a:latin typeface="Arial"/>
              </a:rPr>
              <a:t>Florida and Connecticut cannot be mapped in the committed FIPS lookup, so they auto-drop, logged with per-state counts, never hand-patched.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00" b="1">
                <a:solidFill>
                  <a:srgbClr val="2A78D6"/>
                </a:solidFill>
                <a:latin typeface="Arial"/>
              </a:rPr>
              <a:t>—  </a:t>
            </a:r>
            <a:r>
              <a:rPr sz="1500">
                <a:solidFill>
                  <a:srgbClr val="52514E"/>
                </a:solidFill>
                <a:latin typeface="Arial"/>
              </a:rPr>
              <a:t>Checkpoint 1 feedback told us to let the profiler do its job; the manual FL/CT patch we had planned was deleted in response.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00" b="1">
                <a:solidFill>
                  <a:srgbClr val="2A78D6"/>
                </a:solidFill>
                <a:latin typeface="Arial"/>
              </a:rPr>
              <a:t>—  </a:t>
            </a:r>
            <a:r>
              <a:rPr sz="1500">
                <a:solidFill>
                  <a:srgbClr val="52514E"/>
                </a:solidFill>
                <a:latin typeface="Arial"/>
              </a:rPr>
              <a:t>That rule held all the way to the final run: everything dropped is logged with a reason, everything kept arrived through a general rule.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3891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METHOD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814255" y="402336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>
                <a:solidFill>
                  <a:srgbClr val="898781"/>
                </a:solidFill>
                <a:latin typeface="Arial"/>
              </a:rPr>
              <a:t>speaker  </a:t>
            </a:r>
            <a:r>
              <a:rPr sz="1000">
                <a:solidFill>
                  <a:srgbClr val="52514E"/>
                </a:solidFill>
                <a:latin typeface="Arial"/>
              </a:rPr>
              <a:t>Gowtam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B0B0B"/>
                </a:solidFill>
                <a:latin typeface="Arial"/>
              </a:rPr>
              <a:t>An explainable gap score, hardened against outliers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1056"/>
            <a:ext cx="7772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6364224"/>
            <a:ext cx="10820095" cy="12801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98781"/>
                </a:solidFill>
                <a:latin typeface="Arial"/>
              </a:rPr>
              <a:t>NORP Need-Capacity Gap Explorer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19895" y="643737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898781"/>
                </a:solidFill>
                <a:latin typeface="Arial"/>
              </a:rPr>
              <a:t>06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28800"/>
            <a:ext cx="10820095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50" b="1">
                <a:solidFill>
                  <a:srgbClr val="2A78D6"/>
                </a:solidFill>
                <a:latin typeface="Arial"/>
              </a:rPr>
              <a:t>—  </a:t>
            </a:r>
            <a:r>
              <a:rPr sz="1450">
                <a:solidFill>
                  <a:srgbClr val="52514E"/>
                </a:solidFill>
                <a:latin typeface="Arial"/>
              </a:rPr>
              <a:t>Gap = mean z-score of need indicators minus mean z-score of capacity; positive means need outpaces capacity.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50" b="1">
                <a:solidFill>
                  <a:srgbClr val="2A78D6"/>
                </a:solidFill>
                <a:latin typeface="Arial"/>
              </a:rPr>
              <a:t>—  </a:t>
            </a:r>
            <a:r>
              <a:rPr sz="1450">
                <a:solidFill>
                  <a:srgbClr val="52514E"/>
                </a:solidFill>
                <a:latin typeface="Arial"/>
              </a:rPr>
              <a:t>Capacity metrics pass through a signed-log transform so one large nonprofit cannot dominate a county; missing filings stay missing.</a:t>
            </a:r>
          </a:p>
        </p:txBody>
      </p:sp>
      <p:pic>
        <p:nvPicPr>
          <p:cNvPr id="10" name="Picture 9" descr="gap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9502" y="3200400"/>
            <a:ext cx="4132690" cy="2606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879592"/>
            <a:ext cx="108200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>
                <a:solidFill>
                  <a:srgbClr val="898781"/>
                </a:solidFill>
                <a:latin typeface="Arial"/>
              </a:rPr>
              <a:t>Nearly symmetric distribution, so the tail counties are genuine outliers, not artifacts of skew.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3891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THE ANSWER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814255" y="402336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>
                <a:solidFill>
                  <a:srgbClr val="898781"/>
                </a:solidFill>
                <a:latin typeface="Arial"/>
              </a:rPr>
              <a:t>speaker  </a:t>
            </a:r>
            <a:r>
              <a:rPr sz="1000">
                <a:solidFill>
                  <a:srgbClr val="52514E"/>
                </a:solidFill>
                <a:latin typeface="Arial"/>
              </a:rPr>
              <a:t>Ishaan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B0B0B"/>
                </a:solidFill>
                <a:latin typeface="Arial"/>
              </a:rPr>
              <a:t>A triage list of counties, and it is face-valid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1056"/>
            <a:ext cx="7772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6364224"/>
            <a:ext cx="10820095" cy="12801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98781"/>
                </a:solidFill>
                <a:latin typeface="Arial"/>
              </a:rPr>
              <a:t>NORP Need-Capacity Gap Explorer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19895" y="643737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898781"/>
                </a:solidFill>
                <a:latin typeface="Arial"/>
              </a:rPr>
              <a:t>07 / 14</a:t>
            </a:r>
          </a:p>
        </p:txBody>
      </p:sp>
      <p:pic>
        <p:nvPicPr>
          <p:cNvPr id="9" name="Picture 8" descr="top_gap_coun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7682" y="1792224"/>
            <a:ext cx="4456331" cy="3886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5751576"/>
            <a:ext cx="108200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>
                <a:solidFill>
                  <a:srgbClr val="898781"/>
                </a:solidFill>
                <a:latin typeface="Arial"/>
              </a:rPr>
              <a:t>Texas border, Arkansas/Mississippi Delta, Appalachian Kentucky, the Black Belt: exactly where a domain expert would expect the need-capacity gap to be widest.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3891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GEOGRAPHY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814255" y="402336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>
                <a:solidFill>
                  <a:srgbClr val="898781"/>
                </a:solidFill>
                <a:latin typeface="Arial"/>
              </a:rPr>
              <a:t>speaker  </a:t>
            </a:r>
            <a:r>
              <a:rPr sz="1000">
                <a:solidFill>
                  <a:srgbClr val="52514E"/>
                </a:solidFill>
                <a:latin typeface="Arial"/>
              </a:rPr>
              <a:t>Ishaan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B0B0B"/>
                </a:solidFill>
                <a:latin typeface="Arial"/>
              </a:rPr>
              <a:t>The same result on the 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1056"/>
            <a:ext cx="7772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6364224"/>
            <a:ext cx="10820095" cy="12801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98781"/>
                </a:solidFill>
                <a:latin typeface="Arial"/>
              </a:rPr>
              <a:t>NORP Need-Capacity Gap Explorer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19895" y="643737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898781"/>
                </a:solidFill>
                <a:latin typeface="Arial"/>
              </a:rPr>
              <a:t>08 / 14</a:t>
            </a:r>
          </a:p>
        </p:txBody>
      </p:sp>
      <p:pic>
        <p:nvPicPr>
          <p:cNvPr id="9" name="Picture 8" descr="gap_score_choropleth_coun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8225" y="1792224"/>
            <a:ext cx="5915244" cy="39776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5843015"/>
            <a:ext cx="108200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>
                <a:solidFill>
                  <a:srgbClr val="898781"/>
                </a:solidFill>
                <a:latin typeface="Arial"/>
              </a:rPr>
              <a:t>Red = need outpaces capacity; blue = the reverse; grey = Florida and Connecticut, absent by an honest rule. A true county-polygon map in matplotlib, no GIS dependencies.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3891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SEPARATION OF CONCERNS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814255" y="402336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>
                <a:solidFill>
                  <a:srgbClr val="898781"/>
                </a:solidFill>
                <a:latin typeface="Arial"/>
              </a:rPr>
              <a:t>speaker  </a:t>
            </a:r>
            <a:r>
              <a:rPr sz="1000">
                <a:solidFill>
                  <a:srgbClr val="52514E"/>
                </a:solidFill>
                <a:latin typeface="Arial"/>
              </a:rPr>
              <a:t>Gowtam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B0B0B"/>
                </a:solidFill>
                <a:latin typeface="Arial"/>
              </a:rPr>
              <a:t>The model proposes; Python computes everything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1056"/>
            <a:ext cx="7772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6364224"/>
            <a:ext cx="10820095" cy="12801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98781"/>
                </a:solidFill>
                <a:latin typeface="Arial"/>
              </a:rPr>
              <a:t>NORP Need-Capacity Gap Explorer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19895" y="643737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898781"/>
                </a:solidFill>
                <a:latin typeface="Arial"/>
              </a:rPr>
              <a:t>09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28800"/>
            <a:ext cx="1082009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50" b="1">
                <a:solidFill>
                  <a:srgbClr val="2A78D6"/>
                </a:solidFill>
                <a:latin typeface="Arial"/>
              </a:rPr>
              <a:t>—  </a:t>
            </a:r>
            <a:r>
              <a:rPr sz="1450">
                <a:solidFill>
                  <a:srgbClr val="52514E"/>
                </a:solidFill>
                <a:latin typeface="Arial"/>
              </a:rPr>
              <a:t>Seven hypotheses proposed from the schema alone; no raw rows leave the machine.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50" b="1">
                <a:solidFill>
                  <a:srgbClr val="2A78D6"/>
                </a:solidFill>
                <a:latin typeface="Arial"/>
              </a:rPr>
              <a:t>—  </a:t>
            </a:r>
            <a:r>
              <a:rPr sz="1450">
                <a:solidFill>
                  <a:srgbClr val="52514E"/>
                </a:solidFill>
                <a:latin typeface="Arial"/>
              </a:rPr>
              <a:t>Python tests all 28 need-by-capacity pairs, so the proposals sit inside a complete grid and nothing is cherry-picked.</a:t>
            </a:r>
          </a:p>
        </p:txBody>
      </p:sp>
      <p:pic>
        <p:nvPicPr>
          <p:cNvPr id="10" name="Picture 9" descr="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7515" y="2926080"/>
            <a:ext cx="4096665" cy="278891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788151"/>
            <a:ext cx="108200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>
                <a:solidFill>
                  <a:srgbClr val="898781"/>
                </a:solidFill>
                <a:latin typeface="Arial"/>
              </a:rPr>
              <a:t>The full 7x4 Spearman grid the critic operates 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3891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VERIFICATION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814255" y="402336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>
                <a:solidFill>
                  <a:srgbClr val="898781"/>
                </a:solidFill>
                <a:latin typeface="Arial"/>
              </a:rPr>
              <a:t>speaker  </a:t>
            </a:r>
            <a:r>
              <a:rPr sz="1000">
                <a:solidFill>
                  <a:srgbClr val="52514E"/>
                </a:solidFill>
                <a:latin typeface="Arial"/>
              </a:rPr>
              <a:t>Gowtam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B0B0B"/>
                </a:solidFill>
                <a:latin typeface="Arial"/>
              </a:rPr>
              <a:t>A deterministic critic grades every hypothesis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1056"/>
            <a:ext cx="7772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6364224"/>
            <a:ext cx="10820095" cy="12801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98781"/>
                </a:solidFill>
                <a:latin typeface="Arial"/>
              </a:rPr>
              <a:t>NORP Need-Capacity Gap Explorer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19895" y="643737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898781"/>
                </a:solidFill>
                <a:latin typeface="Arial"/>
              </a:rPr>
              <a:t>10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74519"/>
            <a:ext cx="3436010" cy="1481328"/>
          </a:xfrm>
          <a:prstGeom prst="roundRect">
            <a:avLst>
              <a:gd name="adj" fmla="val 5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41832" y="2093976"/>
            <a:ext cx="45720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41832" y="2240279"/>
            <a:ext cx="297881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752344"/>
            <a:ext cx="297881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52514E"/>
                </a:solidFill>
                <a:latin typeface="Arial"/>
              </a:rPr>
              <a:t>supported: FDR, permutation, and effect floor all cleared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7842" y="1874519"/>
            <a:ext cx="3436010" cy="1481328"/>
          </a:xfrm>
          <a:prstGeom prst="roundRect">
            <a:avLst>
              <a:gd name="adj" fmla="val 5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633874" y="2093976"/>
            <a:ext cx="45720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33874" y="2240279"/>
            <a:ext cx="297881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3874" y="2752344"/>
            <a:ext cx="297881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52514E"/>
                </a:solidFill>
                <a:latin typeface="Arial"/>
              </a:rPr>
              <a:t>weak: right sign, but fails a layer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9884" y="1874519"/>
            <a:ext cx="3436010" cy="1481328"/>
          </a:xfrm>
          <a:prstGeom prst="roundRect">
            <a:avLst>
              <a:gd name="adj" fmla="val 5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325916" y="2093976"/>
            <a:ext cx="457200" cy="50292"/>
          </a:xfrm>
          <a:prstGeom prst="rect">
            <a:avLst/>
          </a:prstGeom>
          <a:solidFill>
            <a:srgbClr val="E34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5916" y="2240279"/>
            <a:ext cx="297881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2752344"/>
            <a:ext cx="297881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52514E"/>
                </a:solidFill>
                <a:latin typeface="Arial"/>
              </a:rPr>
              <a:t>unsupported: sign wrong or not significant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657600"/>
            <a:ext cx="10820095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2A78D6"/>
                </a:solidFill>
                <a:latin typeface="Arial"/>
              </a:rPr>
              <a:t>—  </a:t>
            </a:r>
            <a:r>
              <a:rPr sz="1500">
                <a:solidFill>
                  <a:srgbClr val="52514E"/>
                </a:solidFill>
                <a:latin typeface="Arial"/>
              </a:rPr>
              <a:t>Three layers: false-discovery control across all 28 tests, a state-stratified permutation null (2,000 within-state shuffles), and a pre-committed effect-size floor.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2A78D6"/>
                </a:solidFill>
                <a:latin typeface="Arial"/>
              </a:rPr>
              <a:t>—  </a:t>
            </a:r>
            <a:r>
              <a:rPr sz="1500">
                <a:solidFill>
                  <a:srgbClr val="52514E"/>
                </a:solidFill>
                <a:latin typeface="Arial"/>
              </a:rPr>
              <a:t>Poverty versus nonprofit density has q = 7.7e-36 yet permutation p = 1.0: statistically significant and still a pure between-state artifact.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2A78D6"/>
                </a:solidFill>
                <a:latin typeface="Arial"/>
              </a:rPr>
              <a:t>—  </a:t>
            </a:r>
            <a:r>
              <a:rPr sz="1500">
                <a:solidFill>
                  <a:srgbClr val="52514E"/>
                </a:solidFill>
                <a:latin typeface="Arial"/>
              </a:rPr>
              <a:t>Treating that null as a finding, not a failure, is the most defensible thing the pipeline does.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3891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NEW ANALYSIS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814255" y="402336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>
                <a:solidFill>
                  <a:srgbClr val="898781"/>
                </a:solidFill>
                <a:latin typeface="Arial"/>
              </a:rPr>
              <a:t>speaker  </a:t>
            </a:r>
            <a:r>
              <a:rPr sz="1000">
                <a:solidFill>
                  <a:srgbClr val="52514E"/>
                </a:solidFill>
                <a:latin typeface="Arial"/>
              </a:rPr>
              <a:t>Ishaan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B0B0B"/>
                </a:solidFill>
                <a:latin typeface="Arial"/>
              </a:rPr>
              <a:t>The wealth-capacity link survives state fixed effects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1056"/>
            <a:ext cx="7772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6364224"/>
            <a:ext cx="10820095" cy="12801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98781"/>
                </a:solidFill>
                <a:latin typeface="Arial"/>
              </a:rPr>
              <a:t>NORP Need-Capacity Gap Explorer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19895" y="643737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898781"/>
                </a:solidFill>
                <a:latin typeface="Arial"/>
              </a:rPr>
              <a:t>11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74519"/>
            <a:ext cx="3436010" cy="1481328"/>
          </a:xfrm>
          <a:prstGeom prst="roundRect">
            <a:avLst>
              <a:gd name="adj" fmla="val 5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41832" y="2093976"/>
            <a:ext cx="45720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41832" y="2240279"/>
            <a:ext cx="297881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Arial"/>
              </a:rPr>
              <a:t>+0.132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752344"/>
            <a:ext cx="297881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52514E"/>
                </a:solidFill>
                <a:latin typeface="Arial"/>
              </a:rPr>
              <a:t>within-state slope per $10k of median income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7842" y="1874519"/>
            <a:ext cx="3436010" cy="1481328"/>
          </a:xfrm>
          <a:prstGeom prst="roundRect">
            <a:avLst>
              <a:gd name="adj" fmla="val 5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633874" y="2093976"/>
            <a:ext cx="45720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33874" y="2240279"/>
            <a:ext cx="297881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Arial"/>
              </a:rPr>
              <a:t>4.2e-09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3874" y="2752344"/>
            <a:ext cx="297881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52514E"/>
                </a:solidFill>
                <a:latin typeface="Arial"/>
              </a:rPr>
              <a:t>cluster-robust p-value at the state level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9884" y="1874519"/>
            <a:ext cx="3436010" cy="1481328"/>
          </a:xfrm>
          <a:prstGeom prst="roundRect">
            <a:avLst>
              <a:gd name="adj" fmla="val 5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325916" y="2093976"/>
            <a:ext cx="45720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5916" y="2240279"/>
            <a:ext cx="297881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Arial"/>
              </a:rPr>
              <a:t>2,939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2752344"/>
            <a:ext cx="297881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52514E"/>
                </a:solidFill>
                <a:latin typeface="Arial"/>
              </a:rPr>
              <a:t>counties across 49 states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657600"/>
            <a:ext cx="10820095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2A78D6"/>
                </a:solidFill>
                <a:latin typeface="Arial"/>
              </a:rPr>
              <a:t>—  </a:t>
            </a:r>
            <a:r>
              <a:rPr sz="1500">
                <a:solidFill>
                  <a:srgbClr val="52514E"/>
                </a:solidFill>
                <a:latin typeface="Arial"/>
              </a:rPr>
              <a:t>State fixed effects absorb every additive state-level shift (cost of living, filing coverage, tax geography); the slope is estimated from within-state variation only.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2A78D6"/>
                </a:solidFill>
                <a:latin typeface="Arial"/>
              </a:rPr>
              <a:t>—  </a:t>
            </a:r>
            <a:r>
              <a:rPr sz="1500">
                <a:solidFill>
                  <a:srgbClr val="52514E"/>
                </a:solidFill>
                <a:latin typeface="Arial"/>
              </a:rPr>
              <a:t>The pooled slope (+0.194) barely attenuates under absorption, so the relationship is within states, not composition.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2A78D6"/>
                </a:solidFill>
                <a:latin typeface="Arial"/>
              </a:rPr>
              <a:t>—  </a:t>
            </a:r>
            <a:r>
              <a:rPr sz="1500">
                <a:solidFill>
                  <a:srgbClr val="52514E"/>
                </a:solidFill>
                <a:latin typeface="Arial"/>
              </a:rPr>
              <a:t>On the raw dollar scale the same regression finds nothing (p = 0.61), which is exactly why the signed-log transform exists.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3891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ABOVE AND BEYOND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814255" y="402336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>
                <a:solidFill>
                  <a:srgbClr val="898781"/>
                </a:solidFill>
                <a:latin typeface="Arial"/>
              </a:rPr>
              <a:t>speaker  </a:t>
            </a:r>
            <a:r>
              <a:rPr sz="1000">
                <a:solidFill>
                  <a:srgbClr val="52514E"/>
                </a:solidFill>
                <a:latin typeface="Arial"/>
              </a:rPr>
              <a:t>Ishaan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B0B0B"/>
                </a:solidFill>
                <a:latin typeface="Arial"/>
              </a:rPr>
              <a:t>We audited the AI benchmark like we audit ourselves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1056"/>
            <a:ext cx="7772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6364224"/>
            <a:ext cx="10820095" cy="12801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98781"/>
                </a:solidFill>
                <a:latin typeface="Arial"/>
              </a:rPr>
              <a:t>NORP Need-Capacity Gap Explorer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19895" y="643737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898781"/>
                </a:solidFill>
                <a:latin typeface="Arial"/>
              </a:rPr>
              <a:t>12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74519"/>
            <a:ext cx="5272887" cy="1600200"/>
          </a:xfrm>
          <a:prstGeom prst="roundRect">
            <a:avLst>
              <a:gd name="adj" fmla="val 5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1874519"/>
            <a:ext cx="5272887" cy="82296"/>
          </a:xfrm>
          <a:prstGeom prst="rect">
            <a:avLst/>
          </a:prstGeom>
          <a:solidFill>
            <a:srgbClr val="E34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" y="2103120"/>
            <a:ext cx="4724247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0B0B0B"/>
                </a:solidFill>
                <a:latin typeface="Arial"/>
              </a:rPr>
              <a:t>0 rows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907792"/>
            <a:ext cx="4724247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52514E"/>
                </a:solidFill>
                <a:latin typeface="Arial"/>
              </a:rPr>
              <a:t>recovered by the benchmark's Virginia fix on the real 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874519"/>
            <a:ext cx="5272887" cy="1600200"/>
          </a:xfrm>
          <a:prstGeom prst="roundRect">
            <a:avLst>
              <a:gd name="adj" fmla="val 5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33007" y="1874519"/>
            <a:ext cx="5272887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25615" y="2103120"/>
            <a:ext cx="4724247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0B0B0B"/>
                </a:solidFill>
                <a:latin typeface="Arial"/>
              </a:rPr>
              <a:t>34 + 1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5615" y="2907792"/>
            <a:ext cx="4724247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52514E"/>
                </a:solidFill>
                <a:latin typeface="Arial"/>
              </a:rPr>
              <a:t>VA independent cities plus Dona Ana NM recovered by our resolver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794760"/>
            <a:ext cx="10820095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1">
                <a:solidFill>
                  <a:srgbClr val="2A78D6"/>
                </a:solidFill>
                <a:latin typeface="Arial"/>
              </a:rPr>
              <a:t>—  </a:t>
            </a:r>
            <a:r>
              <a:rPr sz="1400">
                <a:solidFill>
                  <a:srgbClr val="52514E"/>
                </a:solidFill>
                <a:latin typeface="Arial"/>
              </a:rPr>
              <a:t>Its exact-first pass only helps names that exist verbatim in the lookup, and its tests only use those names, so the tests pass while the fix recovers nothing.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1">
                <a:solidFill>
                  <a:srgbClr val="2A78D6"/>
                </a:solidFill>
                <a:latin typeface="Arial"/>
              </a:rPr>
              <a:t>—  </a:t>
            </a:r>
            <a:r>
              <a:rPr sz="1400">
                <a:solidFill>
                  <a:srgbClr val="52514E"/>
                </a:solidFill>
                <a:latin typeface="Arial"/>
              </a:rPr>
              <a:t>We keep its good ideas with credit (exact-first matching so Fairfax City never folds into Fairfax County) and add the missing general rules: a city-suffix fallback plus an encoding repair for the lookup's own corrupted bytes.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1">
                <a:solidFill>
                  <a:srgbClr val="2A78D6"/>
                </a:solidFill>
                <a:latin typeface="Arial"/>
              </a:rPr>
              <a:t>—  </a:t>
            </a:r>
            <a:r>
              <a:rPr sz="1400">
                <a:solidFill>
                  <a:srgbClr val="52514E"/>
                </a:solidFill>
                <a:latin typeface="Arial"/>
              </a:rPr>
              <a:t>Panel: 3,027 to 3,066 counties, every recovery machine-verified.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3891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CLOSING THE GAP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814255" y="402336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>
                <a:solidFill>
                  <a:srgbClr val="898781"/>
                </a:solidFill>
                <a:latin typeface="Arial"/>
              </a:rPr>
              <a:t>speaker  </a:t>
            </a:r>
            <a:r>
              <a:rPr sz="1000">
                <a:solidFill>
                  <a:srgbClr val="52514E"/>
                </a:solidFill>
                <a:latin typeface="Arial"/>
              </a:rPr>
              <a:t>Gowtam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dirty="0">
                <a:solidFill>
                  <a:srgbClr val="0B0B0B"/>
                </a:solidFill>
                <a:latin typeface="Arial"/>
              </a:rPr>
              <a:t>The data gap is closed, and the bias is measured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1056"/>
            <a:ext cx="7772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6364224"/>
            <a:ext cx="10820095" cy="12801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98781"/>
                </a:solidFill>
                <a:latin typeface="Arial"/>
              </a:rPr>
              <a:t>NORP Need-Capacity Gap Explorer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19895" y="643737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898781"/>
                </a:solidFill>
                <a:latin typeface="Arial"/>
              </a:rPr>
              <a:t>13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920240"/>
            <a:ext cx="4709160" cy="1234440"/>
          </a:xfrm>
          <a:prstGeom prst="roundRect">
            <a:avLst>
              <a:gd name="adj" fmla="val 5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41832" y="2139696"/>
            <a:ext cx="45720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41832" y="2286000"/>
            <a:ext cx="4251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Arial"/>
              </a:rPr>
              <a:t>30.7%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697480"/>
            <a:ext cx="425196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dirty="0">
                <a:solidFill>
                  <a:srgbClr val="52514E"/>
                </a:solidFill>
                <a:latin typeface="Arial"/>
              </a:rPr>
              <a:t>of nonprofit rows were in the old extract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291840"/>
            <a:ext cx="4709160" cy="1234440"/>
          </a:xfrm>
          <a:prstGeom prst="roundRect">
            <a:avLst>
              <a:gd name="adj" fmla="val 5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41832" y="3511296"/>
            <a:ext cx="457200" cy="50292"/>
          </a:xfrm>
          <a:prstGeom prst="rect">
            <a:avLst/>
          </a:prstGeom>
          <a:solidFill>
            <a:srgbClr val="E34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41832" y="3657600"/>
            <a:ext cx="4251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Arial"/>
              </a:rPr>
              <a:t>26.2%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164304"/>
            <a:ext cx="425196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dirty="0">
                <a:solidFill>
                  <a:srgbClr val="52514E"/>
                </a:solidFill>
                <a:latin typeface="Arial"/>
              </a:rPr>
              <a:t>of food nonprofits: the sector was under-sampled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663440"/>
            <a:ext cx="4709160" cy="1234440"/>
          </a:xfrm>
          <a:prstGeom prst="roundRect">
            <a:avLst>
              <a:gd name="adj" fmla="val 5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41832" y="4882896"/>
            <a:ext cx="45720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41832" y="5029200"/>
            <a:ext cx="4251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Arial"/>
              </a:rPr>
              <a:t>0.73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5432346"/>
            <a:ext cx="425196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dirty="0">
                <a:solidFill>
                  <a:srgbClr val="52514E"/>
                </a:solidFill>
                <a:latin typeface="Arial"/>
              </a:rPr>
              <a:t>gap rank correlation vs CP3: geography held, sectors shifted</a:t>
            </a:r>
          </a:p>
        </p:txBody>
      </p:sp>
      <p:pic>
        <p:nvPicPr>
          <p:cNvPr id="21" name="Picture 20" descr="truncation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362582"/>
            <a:ext cx="3154244" cy="494129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3891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IN CLOSING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814255" y="402336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>
                <a:solidFill>
                  <a:srgbClr val="898781"/>
                </a:solidFill>
                <a:latin typeface="Arial"/>
              </a:rPr>
              <a:t>speaker  </a:t>
            </a:r>
            <a:r>
              <a:rPr sz="1000">
                <a:solidFill>
                  <a:srgbClr val="52514E"/>
                </a:solidFill>
                <a:latin typeface="Arial"/>
              </a:rPr>
              <a:t>Both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B0B0B"/>
                </a:solidFill>
                <a:latin typeface="Arial"/>
              </a:rPr>
              <a:t>A pipeline that shows its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1056"/>
            <a:ext cx="7772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6364224"/>
            <a:ext cx="10820095" cy="12801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98781"/>
                </a:solidFill>
                <a:latin typeface="Arial"/>
              </a:rPr>
              <a:t>NORP Need-Capacity Gap Explorer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19895" y="643737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898781"/>
                </a:solidFill>
                <a:latin typeface="Arial"/>
              </a:rPr>
              <a:t>14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74519"/>
            <a:ext cx="3436010" cy="1481328"/>
          </a:xfrm>
          <a:prstGeom prst="roundRect">
            <a:avLst>
              <a:gd name="adj" fmla="val 5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41832" y="2093976"/>
            <a:ext cx="45720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41832" y="2240279"/>
            <a:ext cx="297881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Arial"/>
              </a:rPr>
              <a:t>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752344"/>
            <a:ext cx="297881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52514E"/>
                </a:solidFill>
                <a:latin typeface="Arial"/>
              </a:rPr>
              <a:t>committed verification checks, all passing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7842" y="1874519"/>
            <a:ext cx="3436010" cy="1481328"/>
          </a:xfrm>
          <a:prstGeom prst="roundRect">
            <a:avLst>
              <a:gd name="adj" fmla="val 5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633874" y="2093976"/>
            <a:ext cx="45720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33874" y="2240279"/>
            <a:ext cx="297881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Arial"/>
              </a:rPr>
              <a:t>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3874" y="2752344"/>
            <a:ext cx="297881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52514E"/>
                </a:solidFill>
                <a:latin typeface="Arial"/>
              </a:rPr>
              <a:t>offline tests, no API key to reproduce anything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9884" y="1874519"/>
            <a:ext cx="3436010" cy="1481328"/>
          </a:xfrm>
          <a:prstGeom prst="roundRect">
            <a:avLst>
              <a:gd name="adj" fmla="val 5000"/>
            </a:avLst>
          </a:prstGeom>
          <a:solidFill>
            <a:srgbClr val="F5F4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325916" y="2093976"/>
            <a:ext cx="45720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5916" y="2240279"/>
            <a:ext cx="297881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Arial"/>
              </a:rP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2752344"/>
            <a:ext cx="297881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52514E"/>
                </a:solidFill>
                <a:latin typeface="Arial"/>
              </a:rPr>
              <a:t>of headline numbers re-derivable from the repo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657600"/>
            <a:ext cx="10820095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00" b="1">
                <a:solidFill>
                  <a:srgbClr val="2A78D6"/>
                </a:solidFill>
                <a:latin typeface="Arial"/>
              </a:rPr>
              <a:t>—  </a:t>
            </a:r>
            <a:r>
              <a:rPr sz="1500">
                <a:solidFill>
                  <a:srgbClr val="52514E"/>
                </a:solidFill>
                <a:latin typeface="Arial"/>
              </a:rPr>
              <a:t>Honest accounting is the product: FL/CT absence, sparse filings, unverifiable upstream labels, all enumerated, never hidden.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00" b="1">
                <a:solidFill>
                  <a:srgbClr val="2A78D6"/>
                </a:solidFill>
                <a:latin typeface="Arial"/>
              </a:rPr>
              <a:t>—  </a:t>
            </a:r>
            <a:r>
              <a:rPr sz="1500">
                <a:solidFill>
                  <a:srgbClr val="52514E"/>
                </a:solidFill>
                <a:latin typeface="Arial"/>
              </a:rPr>
              <a:t>Next: an authoritative FL/CT county mapping, a second filing year for a temporal panel, and publishing the triage list with its caveats.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440680"/>
            <a:ext cx="10820095" cy="640080"/>
          </a:xfrm>
          <a:prstGeom prst="roundRect">
            <a:avLst>
              <a:gd name="adj" fmla="val 8000"/>
            </a:avLst>
          </a:prstGeom>
          <a:solidFill>
            <a:srgbClr val="EDF3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5800" y="5440680"/>
            <a:ext cx="1082009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1E5AA6"/>
                </a:solidFill>
                <a:latin typeface="Arial"/>
              </a:rPr>
              <a:t>github.com/ishaanbhardwaj2003/NORP-Food-Assistance-Need-Capacity-Gap-Explorer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1535</TotalTime>
  <Words>1301</Words>
  <Application>Microsoft Macintosh PowerPoint</Application>
  <PresentationFormat>Widescreen</PresentationFormat>
  <Paragraphs>160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Kommi, Gowtam</cp:lastModifiedBy>
  <cp:revision>2</cp:revision>
  <dcterms:created xsi:type="dcterms:W3CDTF">2013-01-27T09:14:16Z</dcterms:created>
  <dcterms:modified xsi:type="dcterms:W3CDTF">2026-07-28T20:17:53Z</dcterms:modified>
  <cp:category/>
</cp:coreProperties>
</file>